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7C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011680"/>
            <a:ext cx="73152" cy="1371600"/>
          </a:xfrm>
          <a:prstGeom prst="rect">
            <a:avLst/>
          </a:prstGeom>
          <a:solidFill>
            <a:srgbClr val="0FB886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828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提示词工程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1097280" y="2560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FB8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与AI高效对话的艺术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3108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B8EA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 Engineering for Everyone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4114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8E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吴恩达 (Andrew Ng) 2026 新课《AI Prompting for Everyone》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4389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8E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2026年6月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7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7B8E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548640" cy="27432"/>
          </a:xfrm>
          <a:prstGeom prst="rect">
            <a:avLst/>
          </a:prstGeom>
          <a:solidFill>
            <a:srgbClr val="07978D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71600"/>
            <a:ext cx="457200" cy="457200"/>
          </a:xfrm>
          <a:prstGeom prst="ellipse">
            <a:avLst/>
          </a:prstGeom>
          <a:solidFill>
            <a:srgbClr val="07978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3716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7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认识AI与提示词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88720" y="162763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B8E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大语言模型分类 · AI使用方式对比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8046720" cy="0"/>
          </a:xfrm>
          <a:prstGeom prst="line">
            <a:avLst/>
          </a:prstGeom>
          <a:noFill/>
          <a:ln w="12700">
            <a:solidFill>
              <a:srgbClr val="EFF2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286000"/>
            <a:ext cx="457200" cy="457200"/>
          </a:xfrm>
          <a:prstGeom prst="ellipse">
            <a:avLst/>
          </a:prstGeom>
          <a:solidFill>
            <a:srgbClr val="07978D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22860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7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两大核心原则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188720" y="254203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B8E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清晰指令 · 给模型思考时间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8046720" cy="0"/>
          </a:xfrm>
          <a:prstGeom prst="line">
            <a:avLst/>
          </a:prstGeom>
          <a:noFill/>
          <a:ln w="12700">
            <a:solidFill>
              <a:srgbClr val="EFF2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200400"/>
            <a:ext cx="457200" cy="457200"/>
          </a:xfrm>
          <a:prstGeom prst="ellipse">
            <a:avLst/>
          </a:prstGeom>
          <a:solidFill>
            <a:srgbClr val="07978D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32004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7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迭代与实战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88720" y="345643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B8E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迭代循环 · 推断/转换/扩展/对话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840480"/>
            <a:ext cx="8046720" cy="0"/>
          </a:xfrm>
          <a:prstGeom prst="line">
            <a:avLst/>
          </a:prstGeom>
          <a:noFill/>
          <a:ln w="12700">
            <a:solidFill>
              <a:srgbClr val="EFF2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4114800"/>
            <a:ext cx="457200" cy="457200"/>
          </a:xfrm>
          <a:prstGeom prst="ellipse">
            <a:avLst/>
          </a:prstGeom>
          <a:solidFill>
            <a:srgbClr val="07978D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88720" y="4114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7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高阶技巧与避坑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188720" y="437083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B8E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AI谄媚 · 深度研究 · 渐进写作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549640" y="4663440"/>
            <a:ext cx="320040" cy="320040"/>
          </a:xfrm>
          <a:prstGeom prst="ellipse">
            <a:avLst/>
          </a:prstGeom>
          <a:solidFill>
            <a:srgbClr val="07978D"/>
          </a:solidFill>
          <a:ln/>
        </p:spPr>
      </p:sp>
      <p:sp>
        <p:nvSpPr>
          <p:cNvPr id="25" name="Text 23"/>
          <p:cNvSpPr/>
          <p:nvPr/>
        </p:nvSpPr>
        <p:spPr>
          <a:xfrm>
            <a:off x="854964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97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548640" y="24688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认识AI与提示词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Understanding AI &amp; Prompts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474720"/>
            <a:ext cx="1828800" cy="36576"/>
          </a:xfrm>
          <a:prstGeom prst="rect">
            <a:avLst/>
          </a:prstGeom>
          <a:solidFill>
            <a:srgbClr val="0FB886"/>
          </a:solidFill>
          <a:ln/>
        </p:spPr>
      </p:sp>
      <p:sp>
        <p:nvSpPr>
          <p:cNvPr id="6" name="Shape 4"/>
          <p:cNvSpPr/>
          <p:nvPr/>
        </p:nvSpPr>
        <p:spPr>
          <a:xfrm>
            <a:off x="8549640" y="4663440"/>
            <a:ext cx="320040" cy="3200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54964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7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大语言模型的两类形态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840480" cy="3474720"/>
          </a:xfrm>
          <a:prstGeom prst="roundRect">
            <a:avLst>
              <a:gd name="adj" fmla="val 2105"/>
            </a:avLst>
          </a:prstGeom>
          <a:solidFill>
            <a:srgbClr val="EBF7F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7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基础模型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B8EA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 LLM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797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</a:t>
            </a:r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根据已有文本，预测下一个词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797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</a:t>
            </a:r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不一定遵循人类指令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797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</a:t>
            </a:r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回答方式取决于训练数据的分布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154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797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</a:t>
            </a:r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示例：问"中国领导人是谁"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可能返回一长串名单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3840480" cy="3474720"/>
          </a:xfrm>
          <a:prstGeom prst="roundRect">
            <a:avLst>
              <a:gd name="adj" fmla="val 2105"/>
            </a:avLst>
          </a:prstGeom>
          <a:solidFill>
            <a:srgbClr val="EBF7FA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188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7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指令微调模型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937760" y="15087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B8EA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Instruction Tuned LLM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797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经过 RLHF 等指令微调训练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2331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797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按照人类指令给出期望回答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27432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797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更有帮助、更真诚、更安全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3154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797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当前主流AI产品的核心引擎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549640" y="4663440"/>
            <a:ext cx="320040" cy="320040"/>
          </a:xfrm>
          <a:prstGeom prst="ellipse">
            <a:avLst/>
          </a:prstGeom>
          <a:solidFill>
            <a:srgbClr val="07978D"/>
          </a:solidFill>
          <a:ln/>
        </p:spPr>
      </p:sp>
      <p:sp>
        <p:nvSpPr>
          <p:cNvPr id="18" name="Text 16"/>
          <p:cNvSpPr/>
          <p:nvPr/>
        </p:nvSpPr>
        <p:spPr>
          <a:xfrm>
            <a:off x="854964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7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AI新手 vs AI高阶用户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8229600" cy="457200"/>
          </a:xfrm>
          <a:prstGeom prst="rect">
            <a:avLst/>
          </a:prstGeom>
          <a:solidFill>
            <a:srgbClr val="027C7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对比维度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200400" y="9144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AI新手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0" y="9144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B8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AI高阶用户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8229600" cy="640080"/>
          </a:xfrm>
          <a:prstGeom prst="rect">
            <a:avLst/>
          </a:prstGeom>
          <a:solidFill>
            <a:srgbClr val="EBF7F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173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7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提问难度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91840" y="14173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问简单问题（如"塔可饼还有吗？"）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675120" y="14173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布置挑战性任务，引导深度思考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075688"/>
            <a:ext cx="82296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7568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7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2075688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简短提示，期望AI自行填补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75120" y="2075688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上传大量信息，让AI基于充分上下文回答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2734056"/>
            <a:ext cx="8229600" cy="640080"/>
          </a:xfrm>
          <a:prstGeom prst="rect">
            <a:avLst/>
          </a:prstGeom>
          <a:solidFill>
            <a:srgbClr val="EBF7FA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734056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7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反馈真实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91840" y="2734056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带偏见提问，得到迎合性回答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75120" y="2734056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中立提问，设定评分标准，要求客观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392424"/>
            <a:ext cx="82296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392424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7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AI写作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291840" y="3392424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直接让AI写，产出平庸内容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75120" y="3392424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先拟大纲→评审→迭代→展开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050792"/>
            <a:ext cx="8229600" cy="640080"/>
          </a:xfrm>
          <a:prstGeom prst="rect">
            <a:avLst/>
          </a:prstGeom>
          <a:solidFill>
            <a:srgbClr val="EBF7FA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050792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7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对待错误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291840" y="4050792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关注低智错误（如数r）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675120" y="405079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关注AI真正价值：深度调研、数据分析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549640" y="4663440"/>
            <a:ext cx="320040" cy="320040"/>
          </a:xfrm>
          <a:prstGeom prst="ellipse">
            <a:avLst/>
          </a:prstGeom>
          <a:solidFill>
            <a:srgbClr val="07978D"/>
          </a:solidFill>
          <a:ln/>
        </p:spPr>
      </p:sp>
      <p:sp>
        <p:nvSpPr>
          <p:cNvPr id="28" name="Text 26"/>
          <p:cNvSpPr/>
          <p:nvPr/>
        </p:nvSpPr>
        <p:spPr>
          <a:xfrm>
            <a:off x="854964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97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548640" y="24688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提示词两大核心原则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Core Principles of Prompting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474720"/>
            <a:ext cx="1828800" cy="36576"/>
          </a:xfrm>
          <a:prstGeom prst="rect">
            <a:avLst/>
          </a:prstGeom>
          <a:solidFill>
            <a:srgbClr val="0FB886"/>
          </a:solidFill>
          <a:ln/>
        </p:spPr>
      </p:sp>
      <p:sp>
        <p:nvSpPr>
          <p:cNvPr id="6" name="Shape 4"/>
          <p:cNvSpPr/>
          <p:nvPr/>
        </p:nvSpPr>
        <p:spPr>
          <a:xfrm>
            <a:off x="8549640" y="4663440"/>
            <a:ext cx="320040" cy="3200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54964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7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原则一：编写清晰、具体的指令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B8E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清晰 ≠ 简短。包含更多上下文的长提示词往往效果更好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365760" cy="365760"/>
          </a:xfrm>
          <a:prstGeom prst="rect">
            <a:avLst>
              <a:gd name="adj" fmla="val 12500"/>
            </a:avLst>
          </a:prstGeom>
          <a:solidFill>
            <a:srgbClr val="07978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34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234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7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使用分隔符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5544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```、"""、&lt;&gt; 等将指令与待处理内容分开，防止 Prompt 注入攻击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365760" cy="365760"/>
          </a:xfrm>
          <a:prstGeom prst="rect">
            <a:avLst>
              <a:gd name="adj" fmla="val 12500"/>
            </a:avLst>
          </a:prstGeom>
          <a:solidFill>
            <a:srgbClr val="07978D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1945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7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要求结构化输出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25146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明确要求返回 JSON、HTML 等格式，方便后端程序直接解析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234440"/>
            <a:ext cx="365760" cy="365760"/>
          </a:xfrm>
          <a:prstGeom prst="rect">
            <a:avLst>
              <a:gd name="adj" fmla="val 12500"/>
            </a:avLst>
          </a:prstGeom>
          <a:solidFill>
            <a:srgbClr val="07978D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234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12080" y="1234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7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检查条件是否满足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212080" y="15544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设定条件分支："如果包含步骤则重写，不包含则回复'未提供步骤'"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194560"/>
            <a:ext cx="365760" cy="365760"/>
          </a:xfrm>
          <a:prstGeom prst="rect">
            <a:avLst>
              <a:gd name="adj" fmla="val 12500"/>
            </a:avLst>
          </a:prstGeom>
          <a:solidFill>
            <a:srgbClr val="07978D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12080" y="21945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7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少样本提示 (Few-shot)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212080" y="25146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提供一个示例（用户问XX，助手答YY），让模型模仿特定语境回答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549640" y="4663440"/>
            <a:ext cx="320040" cy="320040"/>
          </a:xfrm>
          <a:prstGeom prst="ellipse">
            <a:avLst/>
          </a:prstGeom>
          <a:solidFill>
            <a:srgbClr val="07978D"/>
          </a:solidFill>
          <a:ln/>
        </p:spPr>
      </p:sp>
      <p:sp>
        <p:nvSpPr>
          <p:cNvPr id="21" name="Text 19"/>
          <p:cNvSpPr/>
          <p:nvPr/>
        </p:nvSpPr>
        <p:spPr>
          <a:xfrm>
            <a:off x="854964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7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原则二：给模型"思考"的时间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B8E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针对逻辑推理任务，防止模型急于输出而产生幻觉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840480" cy="3200400"/>
          </a:xfrm>
          <a:prstGeom prst="roundRect">
            <a:avLst>
              <a:gd name="adj" fmla="val 2286"/>
            </a:avLst>
          </a:prstGeom>
          <a:solidFill>
            <a:srgbClr val="EBF7F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79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7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指定完成任务的步骤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797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</a:t>
            </a:r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将复杂任务拆解为明确步骤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6060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797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</a:t>
            </a:r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例如：1.总结文本 2.翻译 3.提取人名 4.输出JSON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9718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797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</a:t>
            </a:r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降低单步推理的复杂度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3375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797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</a:t>
            </a:r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让模型按部就班处理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1280160"/>
            <a:ext cx="3840480" cy="3200400"/>
          </a:xfrm>
          <a:prstGeom prst="roundRect">
            <a:avLst>
              <a:gd name="adj" fmla="val 2286"/>
            </a:avLst>
          </a:prstGeom>
          <a:solidFill>
            <a:srgbClr val="EBF7FA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4630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79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937760" y="18288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7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先推导逻辑，再下结论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937760" y="22402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797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要求模型先自己计算或推导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26060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797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再与给定答案对比判断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29718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797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避免模型直接看答案顺眼就判对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7760" y="33375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797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极大降低"强行解释"的概率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549640" y="4663440"/>
            <a:ext cx="320040" cy="320040"/>
          </a:xfrm>
          <a:prstGeom prst="ellipse">
            <a:avLst/>
          </a:prstGeom>
          <a:solidFill>
            <a:srgbClr val="07978D"/>
          </a:solidFill>
          <a:ln/>
        </p:spPr>
      </p:sp>
      <p:sp>
        <p:nvSpPr>
          <p:cNvPr id="19" name="Text 17"/>
          <p:cNvSpPr/>
          <p:nvPr/>
        </p:nvSpPr>
        <p:spPr>
          <a:xfrm>
            <a:off x="854964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97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548640" y="24688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迭代开发与实战应用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Iterative Development &amp; Practical Applications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474720"/>
            <a:ext cx="1828800" cy="36576"/>
          </a:xfrm>
          <a:prstGeom prst="rect">
            <a:avLst/>
          </a:prstGeom>
          <a:solidFill>
            <a:srgbClr val="0FB886"/>
          </a:solidFill>
          <a:ln/>
        </p:spPr>
      </p:sp>
      <p:sp>
        <p:nvSpPr>
          <p:cNvPr id="6" name="Shape 4"/>
          <p:cNvSpPr/>
          <p:nvPr/>
        </p:nvSpPr>
        <p:spPr>
          <a:xfrm>
            <a:off x="8549640" y="4663440"/>
            <a:ext cx="320040" cy="3200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54964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7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提示词迭代开发循环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B8E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没人能一次写出完美的 Prompt。提示词是改出来的。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143000" y="1463040"/>
            <a:ext cx="640080" cy="640080"/>
          </a:xfrm>
          <a:prstGeom prst="ellipse">
            <a:avLst/>
          </a:prstGeom>
          <a:solidFill>
            <a:srgbClr val="07978D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1463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828800" y="1783080"/>
            <a:ext cx="320040" cy="0"/>
          </a:xfrm>
          <a:prstGeom prst="line">
            <a:avLst/>
          </a:prstGeom>
          <a:noFill/>
          <a:ln w="25400">
            <a:solidFill>
              <a:srgbClr val="07978D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731520" y="22402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7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产生想法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5146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8E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确定任务目标和预期输出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0" y="1463040"/>
            <a:ext cx="640080" cy="640080"/>
          </a:xfrm>
          <a:prstGeom prst="ellipse">
            <a:avLst/>
          </a:prstGeom>
          <a:solidFill>
            <a:srgbClr val="EFF2F6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1463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7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429000" y="1783080"/>
            <a:ext cx="320040" cy="0"/>
          </a:xfrm>
          <a:prstGeom prst="line">
            <a:avLst/>
          </a:prstGeom>
          <a:noFill/>
          <a:ln w="25400">
            <a:solidFill>
              <a:srgbClr val="07978D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2331720" y="22402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7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编写初版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331720" y="25146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8E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写出第一版 Prompt 并运行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43400" y="1463040"/>
            <a:ext cx="640080" cy="640080"/>
          </a:xfrm>
          <a:prstGeom prst="ellipse">
            <a:avLst/>
          </a:prstGeom>
          <a:solidFill>
            <a:srgbClr val="EFF2F6"/>
          </a:solidFill>
          <a:ln/>
        </p:spPr>
      </p:sp>
      <p:sp>
        <p:nvSpPr>
          <p:cNvPr id="15" name="Text 13"/>
          <p:cNvSpPr/>
          <p:nvPr/>
        </p:nvSpPr>
        <p:spPr>
          <a:xfrm>
            <a:off x="4343400" y="1463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7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029200" y="1783080"/>
            <a:ext cx="320040" cy="0"/>
          </a:xfrm>
          <a:prstGeom prst="line">
            <a:avLst/>
          </a:prstGeom>
          <a:noFill/>
          <a:ln w="25400">
            <a:solidFill>
              <a:srgbClr val="07978D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3931920" y="22402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7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查看结果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931920" y="25146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8E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评估输出是否符合预期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1463040"/>
            <a:ext cx="640080" cy="640080"/>
          </a:xfrm>
          <a:prstGeom prst="ellipse">
            <a:avLst/>
          </a:prstGeom>
          <a:solidFill>
            <a:srgbClr val="EFF2F6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0" y="1463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7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629400" y="1783080"/>
            <a:ext cx="320040" cy="0"/>
          </a:xfrm>
          <a:prstGeom prst="line">
            <a:avLst/>
          </a:prstGeom>
          <a:noFill/>
          <a:ln w="25400">
            <a:solidFill>
              <a:srgbClr val="07978D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5532120" y="22402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7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错误分析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532120" y="25146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8E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分析问题所在：太长？格式不对？重点偏差？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543800" y="1463040"/>
            <a:ext cx="640080" cy="640080"/>
          </a:xfrm>
          <a:prstGeom prst="ellipse">
            <a:avLst/>
          </a:prstGeom>
          <a:solidFill>
            <a:srgbClr val="0FB886"/>
          </a:solidFill>
          <a:ln/>
        </p:spPr>
      </p:sp>
      <p:sp>
        <p:nvSpPr>
          <p:cNvPr id="25" name="Text 23"/>
          <p:cNvSpPr/>
          <p:nvPr/>
        </p:nvSpPr>
        <p:spPr>
          <a:xfrm>
            <a:off x="7543800" y="1463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132320" y="22402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7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迭代改进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132320" y="25146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8E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修改指令，再次测试，循环往复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1520" y="3291840"/>
            <a:ext cx="7680960" cy="1371600"/>
          </a:xfrm>
          <a:prstGeom prst="roundRect">
            <a:avLst>
              <a:gd name="adj" fmla="val 5333"/>
            </a:avLst>
          </a:prstGeom>
          <a:solidFill>
            <a:srgbClr val="EBF7FA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33832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7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⚙️ 实战案例：编写产品营销文案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14400" y="370332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→ 文案太长 → 限制字数（50词内）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14400" y="39959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→ 侧重点不对 → 强调特定技术细节或受众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14400" y="428853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→ 需要表格呈现 → 要求输出 HTML 格式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549640" y="4663440"/>
            <a:ext cx="320040" cy="320040"/>
          </a:xfrm>
          <a:prstGeom prst="ellipse">
            <a:avLst/>
          </a:prstGeom>
          <a:solidFill>
            <a:srgbClr val="07978D"/>
          </a:solidFill>
          <a:ln/>
        </p:spPr>
      </p:sp>
      <p:sp>
        <p:nvSpPr>
          <p:cNvPr id="34" name="Text 32"/>
          <p:cNvSpPr/>
          <p:nvPr/>
        </p:nvSpPr>
        <p:spPr>
          <a:xfrm>
            <a:off x="854964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7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四大实战能力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EBF7FA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0972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7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推断 Inferring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8E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情感分析 · 实体提取 · 主题识别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5800" y="1691640"/>
            <a:ext cx="457200" cy="27432"/>
          </a:xfrm>
          <a:prstGeom prst="rect">
            <a:avLst/>
          </a:prstGeom>
          <a:solidFill>
            <a:srgbClr val="07978D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7830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无需训练多个模型，一个 Prompt 搞定所有分类和分析任务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EBF7FA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0972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7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转换 Transforming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892040" y="14173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8E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翻译 · 语气转换 · 格式转换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92040" y="1691640"/>
            <a:ext cx="457200" cy="27432"/>
          </a:xfrm>
          <a:prstGeom prst="rect">
            <a:avLst/>
          </a:prstGeom>
          <a:solidFill>
            <a:srgbClr val="07978D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7830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万能"语义胶水"，消弭语言、格式与风格的鸿沟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92608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E0F7EC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0175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7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 Expanding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85800" y="33375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8E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创意生成 · 自动化回复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3611880"/>
            <a:ext cx="457200" cy="27432"/>
          </a:xfrm>
          <a:prstGeom prst="rect">
            <a:avLst/>
          </a:prstGeom>
          <a:solidFill>
            <a:srgbClr val="07978D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70332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平衡"创意"与"逻辑"，在温度控制下生成精准表达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292608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F6FBFC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30175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7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 Chatting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892040" y="33375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8E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上下文管理 · 系统角色设定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92040" y="3611880"/>
            <a:ext cx="457200" cy="27432"/>
          </a:xfrm>
          <a:prstGeom prst="rect">
            <a:avLst/>
          </a:prstGeom>
          <a:solidFill>
            <a:srgbClr val="07978D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370332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通过System/User/Assistant角色构建记忆交互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549640" y="4663440"/>
            <a:ext cx="320040" cy="320040"/>
          </a:xfrm>
          <a:prstGeom prst="ellipse">
            <a:avLst/>
          </a:prstGeom>
          <a:solidFill>
            <a:srgbClr val="07978D"/>
          </a:solidFill>
          <a:ln/>
        </p:spPr>
      </p:sp>
      <p:sp>
        <p:nvSpPr>
          <p:cNvPr id="24" name="Text 22"/>
          <p:cNvSpPr/>
          <p:nvPr/>
        </p:nvSpPr>
        <p:spPr>
          <a:xfrm>
            <a:off x="854964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97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548640" y="24688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高阶技巧与避坑指南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Advanced Techniques &amp; Pitfalls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474720"/>
            <a:ext cx="1828800" cy="36576"/>
          </a:xfrm>
          <a:prstGeom prst="rect">
            <a:avLst/>
          </a:prstGeom>
          <a:solidFill>
            <a:srgbClr val="0FB886"/>
          </a:solidFill>
          <a:ln/>
        </p:spPr>
      </p:sp>
      <p:sp>
        <p:nvSpPr>
          <p:cNvPr id="6" name="Shape 4"/>
          <p:cNvSpPr/>
          <p:nvPr/>
        </p:nvSpPr>
        <p:spPr>
          <a:xfrm>
            <a:off x="8549640" y="4663440"/>
            <a:ext cx="320040" cy="3200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54964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7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高阶心法与避坑指南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797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高阶心法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94360" y="1280160"/>
            <a:ext cx="164592" cy="164592"/>
          </a:xfrm>
          <a:prstGeom prst="ellipse">
            <a:avLst/>
          </a:prstGeom>
          <a:solidFill>
            <a:srgbClr val="07978D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26187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7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对抗AI谄媚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14630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中立提问 + 客观评分标准 + 开启新对话获取不同视角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2029968"/>
            <a:ext cx="164592" cy="164592"/>
          </a:xfrm>
          <a:prstGeom prst="ellipse">
            <a:avLst/>
          </a:prstGeom>
          <a:solidFill>
            <a:srgbClr val="07978D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0116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7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深度研究 (Deep Research)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22128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AI自主制定计划、多源并行搜索、评估来源、多轮循环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2779776"/>
            <a:ext cx="164592" cy="164592"/>
          </a:xfrm>
          <a:prstGeom prst="ellipse">
            <a:avLst/>
          </a:prstGeom>
          <a:solidFill>
            <a:srgbClr val="07978D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76148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7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渐进式大纲法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296265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找证据→ 头脑风暴大纲→ 评审迭代→ 扩展要点→ 生成正文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" y="3529584"/>
            <a:ext cx="164592" cy="164592"/>
          </a:xfrm>
          <a:prstGeom prst="ellipse">
            <a:avLst/>
          </a:prstGeom>
          <a:solidFill>
            <a:srgbClr val="07978D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511296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7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跨模型审查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371246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用一个AI审查另一个AI的输出，定期尝试不同模型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" y="4279392"/>
            <a:ext cx="164592" cy="164592"/>
          </a:xfrm>
          <a:prstGeom prst="ellipse">
            <a:avLst/>
          </a:prstGeom>
          <a:solidFill>
            <a:srgbClr val="07978D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261104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7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分块编辑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446227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一次只编辑一段，逐段与AI迭代，而非一次性编辑全文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9144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A2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五大陷阱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800600" y="1280160"/>
            <a:ext cx="164592" cy="164592"/>
          </a:xfrm>
          <a:prstGeom prst="ellipse">
            <a:avLst/>
          </a:prstGeom>
          <a:solidFill>
            <a:srgbClr val="FFA200"/>
          </a:solidFill>
          <a:ln/>
        </p:spPr>
      </p:sp>
      <p:sp>
        <p:nvSpPr>
          <p:cNvPr id="21" name="Text 19"/>
          <p:cNvSpPr/>
          <p:nvPr/>
        </p:nvSpPr>
        <p:spPr>
          <a:xfrm>
            <a:off x="5074920" y="126187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7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谄媚（迎合用户）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74920" y="14630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用中立提问替代偏见提问，要求"客观公平地评论"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00600" y="2029968"/>
            <a:ext cx="164592" cy="164592"/>
          </a:xfrm>
          <a:prstGeom prst="ellipse">
            <a:avLst/>
          </a:prstGeom>
          <a:solidFill>
            <a:srgbClr val="FFA200"/>
          </a:solidFill>
          <a:ln/>
        </p:spPr>
      </p:sp>
      <p:sp>
        <p:nvSpPr>
          <p:cNvPr id="24" name="Text 22"/>
          <p:cNvSpPr/>
          <p:nvPr/>
        </p:nvSpPr>
        <p:spPr>
          <a:xfrm>
            <a:off x="5074920" y="20116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7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垃圾内容（Slop）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74920" y="22128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使用渐进式大纲法，避免空洞排比和模糊表达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00600" y="2779776"/>
            <a:ext cx="164592" cy="164592"/>
          </a:xfrm>
          <a:prstGeom prst="ellipse">
            <a:avLst/>
          </a:prstGeom>
          <a:solidFill>
            <a:srgbClr val="FFA200"/>
          </a:solidFill>
          <a:ln/>
        </p:spPr>
      </p:sp>
      <p:sp>
        <p:nvSpPr>
          <p:cNvPr id="27" name="Text 25"/>
          <p:cNvSpPr/>
          <p:nvPr/>
        </p:nvSpPr>
        <p:spPr>
          <a:xfrm>
            <a:off x="5074920" y="276148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7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过时/不可靠来源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74920" y="296265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明确指定权威来源（如WHO、FDA），避免 Reddit 依赖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00600" y="3529584"/>
            <a:ext cx="164592" cy="164592"/>
          </a:xfrm>
          <a:prstGeom prst="ellipse">
            <a:avLst/>
          </a:prstGeom>
          <a:solidFill>
            <a:srgbClr val="FFA200"/>
          </a:solidFill>
          <a:ln/>
        </p:spPr>
      </p:sp>
      <p:sp>
        <p:nvSpPr>
          <p:cNvPr id="30" name="Text 28"/>
          <p:cNvSpPr/>
          <p:nvPr/>
        </p:nvSpPr>
        <p:spPr>
          <a:xfrm>
            <a:off x="5074920" y="3511296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7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无关上下文干扰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074920" y="371246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切换主题时开启新对话，保持上下文切题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00600" y="4279392"/>
            <a:ext cx="164592" cy="164592"/>
          </a:xfrm>
          <a:prstGeom prst="ellipse">
            <a:avLst/>
          </a:prstGeom>
          <a:solidFill>
            <a:srgbClr val="FFA200"/>
          </a:solidFill>
          <a:ln/>
        </p:spPr>
      </p:sp>
      <p:sp>
        <p:nvSpPr>
          <p:cNvPr id="33" name="Text 31"/>
          <p:cNvSpPr/>
          <p:nvPr/>
        </p:nvSpPr>
        <p:spPr>
          <a:xfrm>
            <a:off x="5074920" y="4261104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7C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低效的一次性编辑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074920" y="446227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分块编辑 + 跨模型审查，添加"如不确定请说明"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549640" y="4663440"/>
            <a:ext cx="320040" cy="320040"/>
          </a:xfrm>
          <a:prstGeom prst="ellipse">
            <a:avLst/>
          </a:prstGeom>
          <a:solidFill>
            <a:srgbClr val="07978D"/>
          </a:solidFill>
          <a:ln/>
        </p:spPr>
      </p:sp>
      <p:sp>
        <p:nvSpPr>
          <p:cNvPr id="36" name="Text 34"/>
          <p:cNvSpPr/>
          <p:nvPr/>
        </p:nvSpPr>
        <p:spPr>
          <a:xfrm>
            <a:off x="854964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27C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73152" cy="548640"/>
          </a:xfrm>
          <a:prstGeom prst="rect">
            <a:avLst/>
          </a:prstGeom>
          <a:solidFill>
            <a:srgbClr val="0FB886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731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核心要点总结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97280" y="11887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FB8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1737360"/>
            <a:ext cx="164592" cy="164592"/>
          </a:xfrm>
          <a:prstGeom prst="ellipse">
            <a:avLst/>
          </a:prstGeom>
          <a:solidFill>
            <a:srgbClr val="0FB886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1691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清晰 ≠ 简短 —— 消除歧义、提供充分上下文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2286000"/>
            <a:ext cx="164592" cy="164592"/>
          </a:xfrm>
          <a:prstGeom prst="ellipse">
            <a:avLst/>
          </a:prstGeom>
          <a:solidFill>
            <a:srgbClr val="0FB886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22402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给模型思考时间 —— 指定步骤，先推导再结论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14400" y="2834640"/>
            <a:ext cx="164592" cy="164592"/>
          </a:xfrm>
          <a:prstGeom prst="ellipse">
            <a:avLst/>
          </a:prstGeom>
          <a:solidFill>
            <a:srgbClr val="0FB886"/>
          </a:solidFill>
          <a:ln/>
        </p:spPr>
      </p:sp>
      <p:sp>
        <p:nvSpPr>
          <p:cNvPr id="10" name="Text 8"/>
          <p:cNvSpPr/>
          <p:nvPr/>
        </p:nvSpPr>
        <p:spPr>
          <a:xfrm>
            <a:off x="1234440" y="2788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提示词是改出来的 —— Idea → 编写 → 测试 → 分析 → 改进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14400" y="3383280"/>
            <a:ext cx="164592" cy="164592"/>
          </a:xfrm>
          <a:prstGeom prst="ellipse">
            <a:avLst/>
          </a:prstGeom>
          <a:solidFill>
            <a:srgbClr val="0FB886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33375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是副驾驶，你才是机长 —— 主动设置护栏，对抗谄媚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14400" y="3931920"/>
            <a:ext cx="164592" cy="164592"/>
          </a:xfrm>
          <a:prstGeom prst="ellipse">
            <a:avLst/>
          </a:prstGeom>
          <a:solidFill>
            <a:srgbClr val="0FB886"/>
          </a:solidFill>
          <a:ln/>
        </p:spPr>
      </p:sp>
      <p:sp>
        <p:nvSpPr>
          <p:cNvPr id="14" name="Text 12"/>
          <p:cNvSpPr/>
          <p:nvPr/>
        </p:nvSpPr>
        <p:spPr>
          <a:xfrm>
            <a:off x="1234440" y="3886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善用分层工具 —— 预训练知识 / 联网搜索 / 深度研究 / 代码执行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97280" y="4206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B8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“AI 的输出质量，取决于你的输入维度”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44805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E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Andrew Ng, DeepLearning.AI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549640" y="4663440"/>
            <a:ext cx="320040" cy="320040"/>
          </a:xfrm>
          <a:prstGeom prst="ellipse">
            <a:avLst/>
          </a:prstGeom>
          <a:solidFill>
            <a:srgbClr val="0FB886"/>
          </a:solidFill>
          <a:ln/>
        </p:spPr>
      </p:sp>
      <p:sp>
        <p:nvSpPr>
          <p:cNvPr id="18" name="Text 16"/>
          <p:cNvSpPr/>
          <p:nvPr/>
        </p:nvSpPr>
        <p:spPr>
          <a:xfrm>
            <a:off x="854964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提示词工程：与AI高效对话的艺术</dc:title>
  <dc:subject>PptxGenJS Presentation</dc:subject>
  <dc:creator>PPT Generator</dc:creator>
  <cp:lastModifiedBy>PPT Generator</cp:lastModifiedBy>
  <cp:revision>1</cp:revision>
  <dcterms:created xsi:type="dcterms:W3CDTF">2026-06-03T07:59:21Z</dcterms:created>
  <dcterms:modified xsi:type="dcterms:W3CDTF">2026-06-03T07:59:21Z</dcterms:modified>
</cp:coreProperties>
</file>